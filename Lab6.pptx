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45720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4200" b="1">
                <a:solidFill>
                  <a:srgbClr val="142337"/>
                </a:solidFill>
                <a:latin typeface="Aptos"/>
              </a:rPr>
              <a:t>LAB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7315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>
                <a:solidFill>
                  <a:srgbClr val="2D6496"/>
                </a:solidFill>
                <a:latin typeface="Aptos"/>
              </a:rPr>
              <a:t>Docker &amp;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96012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0">
                <a:solidFill>
                  <a:srgbClr val="647382"/>
                </a:solidFill>
                <a:latin typeface="Aptos"/>
              </a:rPr>
              <a:t>• Decomposing the backend into independent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214884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904488"/>
            <a:ext cx="18562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USER
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4297680"/>
            <a:ext cx="185623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91E23"/>
                </a:solidFill>
                <a:latin typeface="Aptos"/>
              </a:rPr>
              <a:t>Containerized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794760"/>
            <a:ext cx="214884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3904488"/>
            <a:ext cx="18562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PRODUCT
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4297680"/>
            <a:ext cx="185623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91E23"/>
                </a:solidFill>
                <a:latin typeface="Aptos"/>
              </a:rPr>
              <a:t>Containerized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94760"/>
            <a:ext cx="214884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3904488"/>
            <a:ext cx="18562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ORDER
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4297680"/>
            <a:ext cx="185623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91E23"/>
                </a:solidFill>
                <a:latin typeface="Aptos"/>
              </a:rPr>
              <a:t>Containerized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794760"/>
            <a:ext cx="214884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3904488"/>
            <a:ext cx="18562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647382"/>
                </a:solidFill>
                <a:latin typeface="Aptos"/>
              </a:rPr>
              <a:t>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4297680"/>
            <a:ext cx="185623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91E23"/>
                </a:solidFill>
                <a:latin typeface="Aptos"/>
              </a:rPr>
              <a:t>Containerized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From Containerization to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 •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45336"/>
            <a:ext cx="30998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Lab 5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3099816" cy="1170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Backend + MongoDB were containerized and run with Docker.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45336"/>
            <a:ext cx="30998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3099816" cy="1170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Split the backend into at least two independently runnable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545336"/>
            <a:ext cx="30998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47672"/>
            <a:ext cx="3099816" cy="11704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Services communicate through Docker networking and explicit APIs.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142337"/>
                </a:solidFill>
                <a:latin typeface="Aptos"/>
              </a:rPr>
              <a:t>Starting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101498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Reuse the working Lab 4 User REST API.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Reuse the Docker/Compose setup from Lab 5 Part 1.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 not rebuild the application from scratch.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Why Split the Backend?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 •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647382"/>
                </a:solidFill>
                <a:latin typeface="Aptos"/>
              </a:rPr>
              <a:t>Single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2871216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All responsibilities live in one deployable unit.
Changes can affect the whole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004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45336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Independent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947672"/>
            <a:ext cx="2871216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Each service owns a clear responsibility and can run independently.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200400" cy="19659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545336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Service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947672"/>
            <a:ext cx="2871216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Services communicate through explicit REST/API calls instead of internal code coupling.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142337"/>
                </a:solidFill>
                <a:latin typeface="Aptos"/>
              </a:rPr>
              <a:t>Microservices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33272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191E23"/>
                </a:solidFill>
                <a:latin typeface="Aptos"/>
              </a:rPr>
              <a:t>A distributed application can contain independently deployable services that communicate through well-defined interfaces.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Complete Service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2 • SERVICE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2044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389888"/>
            <a:ext cx="32278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User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83080"/>
            <a:ext cx="3227832" cy="3886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Manage User resources.
GET /users
GET /users/{id}
POST /users
PUT /users/{id}
DELETE /users/{id}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52044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1389888"/>
            <a:ext cx="32278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Product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783080"/>
            <a:ext cx="3227832" cy="3886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Manage Product resources.
GET /products
GET /products/{id}
POST /products
PUT /products/{id}
DELETE /products/{id}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280160"/>
            <a:ext cx="3520440" cy="4480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64424" y="1389888"/>
            <a:ext cx="3227832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Order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4424" y="1783080"/>
            <a:ext cx="3227832" cy="3886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Create and retrieve Orders.
POST /orders
GET /orders
GET /orders/{id}
Uses User + Product APIs when validating an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Define Clear Service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2 • SERVICE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337"/>
                </a:solidFill>
                <a:latin typeface="Aptos"/>
              </a:rPr>
              <a:t>For each service, decide: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3035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Responsibility — what business job does it perform?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Resources — what data does it expose?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Endpoints — which REST operations does it own?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Configuration — what port/URLs does it require?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Data ownership — which database/data does it use?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48056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56816"/>
            <a:ext cx="41513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Good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359152"/>
            <a:ext cx="415137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191E23"/>
                </a:solidFill>
                <a:latin typeface="Aptos"/>
              </a:rPr>
              <a:t>A service should have a clear responsibility and remain independently runnable.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448056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785616"/>
            <a:ext cx="41513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AA4141"/>
                </a:solidFill>
                <a:latin typeface="Aptos"/>
              </a:rPr>
              <a:t>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187952"/>
            <a:ext cx="415137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Splitting code only because it is convenient. Explain why the selected boundary is reasonable.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Complete Architecture: Monolith →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3 •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743200" cy="868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Lab 4 Monolith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Frontend → Single REST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2011680" cy="6858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MongoDB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shared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011680"/>
            <a:ext cx="0" cy="32004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10128" y="1572768"/>
            <a:ext cx="758952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75204" y="138988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decompose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932688"/>
            <a:ext cx="7589520" cy="4800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D7497"/>
                </a:solidFill>
              </a:defRPr>
            </a:pPr>
            <a:r>
              <a:rPr>
                <a:solidFill/>
              </a:rPr>
              <a:t>DOCKER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261872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Client / Postman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one entry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84831"/>
            <a:ext cx="20116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344A"/>
                </a:solidFill>
              </a:defRPr>
            </a:pPr>
            <a:r>
              <a:rPr>
                <a:solidFill/>
              </a:rPr>
              <a:t>API Gateway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optional concept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1920240"/>
            <a:ext cx="0" cy="164591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26280" y="3246120"/>
            <a:ext cx="2148840" cy="91440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:3001 • /users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246120"/>
            <a:ext cx="2148840" cy="91440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PRODUCT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:3002 • /products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246120"/>
            <a:ext cx="1828800" cy="91440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:3003 • /orders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596128" y="2743200"/>
            <a:ext cx="1856232" cy="50292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09844" y="281177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REST/JSON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2743200"/>
            <a:ext cx="612648" cy="50292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2743200"/>
            <a:ext cx="2926080" cy="50292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23560" y="4370832"/>
            <a:ext cx="5166360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→ User / Product APIs  •  validation calls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937760"/>
            <a:ext cx="21488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owned by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4937760"/>
            <a:ext cx="21488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Product 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owned by 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4937760"/>
            <a:ext cx="18288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owned by Order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96128" y="4160520"/>
            <a:ext cx="0" cy="77724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65008" y="4160520"/>
            <a:ext cx="0" cy="77724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378440" y="4160520"/>
            <a:ext cx="0" cy="77724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Create the First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4 •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2D7D5A"/>
                </a:solidFill>
                <a:latin typeface="Aptos"/>
              </a:rPr>
              <a:t>User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486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Move or implement the Student responsibility as an independent service.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Give it its own entry point and port.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Keep the REST endpoints resource-oriented.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Run it independently before Dockerizing.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4389120" cy="265176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27048"/>
            <a:ext cx="4059936" cy="24323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GET    /users
GET    /users/{id}
POST   /users
PUT    /users/{id}
DELETE /users/{id}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343400"/>
            <a:ext cx="438912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4471416"/>
            <a:ext cx="405993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4873752"/>
            <a:ext cx="405993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Start the first service alone and test at least two endpoints with Postman.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Create the Second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4 •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2D6496"/>
                </a:solidFill>
                <a:latin typeface="Aptos"/>
              </a:rPr>
              <a:t>Product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486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Create a separate application entry point and port.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Implement endpoints needed for Course responsibility.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Keep the service independent except for explicit API communication.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Start and test the service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4389120" cy="228600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27048"/>
            <a:ext cx="4059936" cy="20665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GET  /products
GET  /products/{id}
POST /products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023360"/>
            <a:ext cx="438912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4151376"/>
            <a:ext cx="405993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4553712"/>
            <a:ext cx="405993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Both services must be runnable independently and respond successfully to their own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411480" y="1005840"/>
            <a:ext cx="11201400" cy="4937760"/>
          </a:xfrm>
          <a:prstGeom prst="roundRect">
            <a:avLst/>
          </a:prstGeom>
          <a:noFill/>
          <a:ln w="1905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Service-to-Service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5 •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468880" cy="10515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1463040"/>
            <a:ext cx="2468880" cy="10515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4023360"/>
            <a:ext cx="2468880" cy="10515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PRODUCT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80" y="1965960"/>
            <a:ext cx="576072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12079" y="18013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GET /users/{id}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468880"/>
            <a:ext cx="5760720" cy="205740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79" y="333298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GET /products/{id}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Inside Docker: use service names such as http://user-service:3001 — never localhost for another container.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Docker Networking: localhost vs Service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5 •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53896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AA4141"/>
                </a:solidFill>
                <a:latin typeface="Aptos"/>
              </a:rPr>
              <a:t>Inside a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56232"/>
            <a:ext cx="2962656" cy="8961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localhost refers to the current container.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453896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Container-to-container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856232"/>
            <a:ext cx="2962656" cy="8961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Services on the same Docker network can communicate using service/container names and 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29184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53896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Host-to-container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56232"/>
            <a:ext cx="2962656" cy="8961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A published port such as 3000:3000 lets Postman reach the API from the host.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D7D5A"/>
                </a:solidFill>
                <a:latin typeface="Aptos"/>
              </a:rPr>
              <a:t>Correct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3291840"/>
            <a:ext cx="3657600" cy="68580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3401568"/>
            <a:ext cx="3328416" cy="4663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http://product-service:4000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AA4141"/>
                </a:solidFill>
                <a:latin typeface="Aptos"/>
              </a:rPr>
              <a:t>Incorrect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251960"/>
            <a:ext cx="3657600" cy="68580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76272" y="4361688"/>
            <a:ext cx="3328416" cy="4663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http://localhost:4000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Dockerfile for Each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6 •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337"/>
                </a:solidFill>
                <a:latin typeface="Aptos"/>
              </a:rPr>
              <a:t>Each application service gets its own Dockerfile and image.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486400" cy="365760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38528"/>
            <a:ext cx="5157216" cy="34381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FROM node:22
WORKDIR /app
COPY package*.json ./
RUN npm install
COPY . .
EXPOSE 3000
CMD ["node", "server.js"]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2976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Use an appropriate base image.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Install dependencies.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Copy the service source code.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Expose the service port.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Define the startup command.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4526280"/>
            <a:ext cx="429768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4654296"/>
            <a:ext cx="39684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5056632"/>
            <a:ext cx="3968496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Each service can be built into a separate Docker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Build the Service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6 • CONTAINERIZATION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6400800" cy="246888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6071616" cy="22494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docker build -t user-service:v1 ./user-service
docker build -t product-service:v1 ./product-service
docker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38328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63677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Image naming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039112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Use meaningful names and tags so each service can be identified and versioned.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154680"/>
            <a:ext cx="338328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328269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Expected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685032"/>
            <a:ext cx="305409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At least two application images are visible in the local Docker image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Shared Docker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6 • NETWORKING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212080" cy="73152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27048"/>
            <a:ext cx="4882896" cy="51206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docker network create campus-network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44805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99616"/>
            <a:ext cx="41513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Attach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01952"/>
            <a:ext cx="41513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Aptos"/>
              </a:rPr>
              <a:t>User Service and Product Service must share the same Docker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142337"/>
                </a:solidFill>
                <a:latin typeface="Aptos"/>
              </a:rPr>
              <a:t>Communication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7315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191E23"/>
                </a:solidFill>
                <a:latin typeface="Aptos"/>
              </a:rPr>
              <a:t>Postman → user-service → product-service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987552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0">
                <a:solidFill>
                  <a:srgbClr val="647382"/>
                </a:solidFill>
                <a:latin typeface="Aptos"/>
              </a:rPr>
              <a:t>Keep host port mappings only where external access is required, such as Postman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7 •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6692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 not hard-code service URLs and environment-specific ports.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Configure each service's API port using environment variables.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Configure target service URLs using environment variables.</a:t>
            </a:r>
          </a:p>
          <a:p>
            <a:pPr>
              <a:spcAft>
                <a:spcPts val="400"/>
              </a:spcAft>
              <a:defRPr sz="18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The same image can run with different configuration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17320"/>
            <a:ext cx="4297680" cy="219456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1527048"/>
            <a:ext cx="3968496" cy="197510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USER_SERVICE_PORT=3000
PRODUCT_SERVICE_PORT=4000
PRODUCT_SERVICE_URL=http://product-service:4000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77639"/>
            <a:ext cx="429768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4105655"/>
            <a:ext cx="39684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4507991"/>
            <a:ext cx="396849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Change a service port or URL through configuration without changing the service source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Docker Compose: Complete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8 • DOCKER 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858000" cy="498348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52728"/>
            <a:ext cx="6528816" cy="47640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services:
  user-service:
    build: ./user-service
    ports:
      - "3000:3000"
    environment:
      PRODUCT_SERVICE_URL: http://product-service:4000
    depends_on:
      - product-service
  product-service:
    build: ./product-service
    ports:
      - "4000:4000"
  mongodb:
    image: mongo
    volumes:
      - user-mongo-data:/data/db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463040"/>
            <a:ext cx="33832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Define application services.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Define required database service(s).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Configure ports and environment variables.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Define networks and volumes as needed.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Match the file to your actual project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Run and Verify with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8 • DOCKER 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303520" cy="224028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81328"/>
            <a:ext cx="4974336" cy="202082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docker compose config
docker compose up -d
docker compose ps
docker compose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371600"/>
            <a:ext cx="420624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499616"/>
            <a:ext cx="38770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901952"/>
            <a:ext cx="3877056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All required application containers are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697480"/>
            <a:ext cx="4206240" cy="10515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2825496"/>
            <a:ext cx="38770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Check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227832"/>
            <a:ext cx="3877056" cy="3931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Look for startup, networking or database connection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023360"/>
            <a:ext cx="420624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4151376"/>
            <a:ext cx="38770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647382"/>
                </a:solidFill>
                <a:latin typeface="Aptos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4553712"/>
            <a:ext cx="3877056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Use exposed host ports for Postman/React; internal traffic uses the Docker network.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Test the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9 • POSTMAN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337"/>
                </a:solidFill>
                <a:latin typeface="Aptos"/>
              </a:rPr>
              <a:t>Required testing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64008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Call Service A directly from Postman.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Call Service B directly from Postman.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Call an operation that causes Service A → Service B communication.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Capture request + response proving the inter-service call.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Demonstrate one failure case: unavailable service or invalid resource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74519"/>
            <a:ext cx="33832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2" y="2002535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2" y="2404871"/>
            <a:ext cx="3054096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Show method, URL, status code and response body for important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474720"/>
            <a:ext cx="33832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2" y="360273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2" y="4005072"/>
            <a:ext cx="3054096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Create a collection named:
Microservices – Lab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Microservices API &amp; Communication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9 •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920240" cy="5029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280160"/>
            <a:ext cx="3657600" cy="5029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371600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Service A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280160"/>
            <a:ext cx="4297680" cy="5029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371600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Service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83080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Service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783080"/>
            <a:ext cx="365760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1783080"/>
            <a:ext cx="429768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23160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Responsibility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423160"/>
            <a:ext cx="365760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2423160"/>
            <a:ext cx="429768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063239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3063239"/>
            <a:ext cx="365760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20840" y="3063239"/>
            <a:ext cx="429768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Main resource(s)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3703320"/>
            <a:ext cx="365760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3703320"/>
            <a:ext cx="429768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43400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Key endpoints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343400"/>
            <a:ext cx="365760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20840" y="4343400"/>
            <a:ext cx="429768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828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Data/database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4983480"/>
            <a:ext cx="365760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4983480"/>
            <a:ext cx="4297680" cy="566928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9144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647382"/>
                </a:solidFill>
                <a:latin typeface="Aptos"/>
              </a:rPr>
              <a:t>Complete this table using your actual decomposition.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Service-to-Service Design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9 •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Calling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16152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Target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37944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78024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HTTP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459736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99816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081528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21608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Request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703320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Expected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325112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65192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142337"/>
                </a:solidFill>
                <a:latin typeface="Aptos"/>
              </a:rPr>
              <a:t>Failure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946904"/>
            <a:ext cx="7132320" cy="475488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9601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0">
                <a:solidFill>
                  <a:srgbClr val="647382"/>
                </a:solidFill>
                <a:latin typeface="Aptos"/>
              </a:rPr>
              <a:t>Use one real operation from your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Required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10 •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86868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142337"/>
                </a:solidFill>
                <a:latin typeface="Aptos"/>
              </a:rPr>
              <a:t>Your final diagram must match the actual Compose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874519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14016"/>
            <a:ext cx="1545335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647382"/>
                </a:solidFill>
                <a:latin typeface="Aptos"/>
              </a:rPr>
              <a:t>Client /
Postman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154533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91E23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00200"/>
            <a:ext cx="1874519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728216"/>
            <a:ext cx="1545335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Service A
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130552"/>
            <a:ext cx="154533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91E23"/>
                </a:solidFill>
                <a:latin typeface="Aptos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657600"/>
            <a:ext cx="1874519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3785616"/>
            <a:ext cx="1545335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Service B
:4000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4187952"/>
            <a:ext cx="154533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91E23"/>
                </a:solidFill>
                <a:latin typeface="Aptos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423160"/>
            <a:ext cx="1874519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2551176"/>
            <a:ext cx="1545335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Docker
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953512"/>
            <a:ext cx="154533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91E23"/>
                </a:solidFill>
                <a:latin typeface="Apto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2423160"/>
            <a:ext cx="1874519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2551176"/>
            <a:ext cx="1545335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647382"/>
                </a:solidFill>
                <a:latin typeface="Aptos"/>
              </a:rPr>
              <a:t>Database
+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953512"/>
            <a:ext cx="154533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191E23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56032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142337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56032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142337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560320"/>
            <a:ext cx="54864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142337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74920"/>
            <a:ext cx="68580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91E23"/>
                </a:solidFill>
                <a:latin typeface="Aptos"/>
              </a:rPr>
              <a:t>Also show the direction of Service A → Service B communication.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Submission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11 •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42416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Updated CampusConnect / Lab 4 application refactored into at least two services.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Source code for each microservice.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Dockerfile for each application service.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Updated compose.yaml or docker-compose.yml.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.dockerignore file(s) where appropriate.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Environment-variable configuration without passwords, tokens or secrets.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Postman collection + screenshots for endpoint and inter-service testing.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Architecture diagram matching the final deployment.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README.md documenting setup, Docker commands, Compose and testing.</a:t>
            </a:r>
          </a:p>
          <a:p>
            <a:pPr>
              <a:spcAft>
                <a:spcPts val="400"/>
              </a:spcAft>
              <a:defRPr sz="16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Completed Microservices API and Communication Exercise.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Evidence / Screenshot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11 •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Working Lab 5 Part 1 application before decomposition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Service-boundary design + architecture diagram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Separate service/project structure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Dockerfile for each service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Successful Docker image builds + docker images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 network showing service containers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Environment variables with service URLs/ports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80160"/>
            <a:ext cx="52120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 compose up -d + docker compose ps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Startup logs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Postman test for Service A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Postman test for Service B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Postman test for Service A → Service B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Database persistence evidence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Failure/error test + returned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README.md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11 •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4241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Project overview and relationship to Lab 4 and Lab 5 Part 1.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List of services and the responsibility of each service.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Service ports and endpoint mapping.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How to run each service independently.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Dockerfile explanation for each service.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 image build commands.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 network and service-name communication.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Environment variables and service URLs.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 Compose configuration and commands.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How service-to-service communication works.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Postman testing and expected responses.</a:t>
            </a:r>
          </a:p>
          <a:p>
            <a:pPr>
              <a:spcAft>
                <a:spcPts val="400"/>
              </a:spcAft>
              <a:defRPr sz="15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Troubleshooting issues encountered and how they were resolved.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Important Microservices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12 •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3832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0817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5409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This is a continuation of the Dockerized application. Do not create an unrelated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0817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Keep services focused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5409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Each service should have a clear responsibility and be independently runnable.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3832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40817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AA4141"/>
                </a:solidFill>
                <a:latin typeface="Aptos"/>
              </a:rPr>
              <a:t>Network correctly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1810512"/>
            <a:ext cx="305409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Use Docker service/container names. Do not use localhost to address another container.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33832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37413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647382"/>
                </a:solidFill>
                <a:latin typeface="Aptos"/>
              </a:rPr>
              <a:t>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776472"/>
            <a:ext cx="305409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Keep ports and service URLs configurable. Do not hard-code passwords, API keys or secrets.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46120"/>
            <a:ext cx="33832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37413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776472"/>
            <a:ext cx="305409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Architecture diagram, Compose file, service URLs and screenshots must describe the same implementation.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246120"/>
            <a:ext cx="33832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37413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7D5A"/>
                </a:solidFill>
                <a:latin typeface="Aptos"/>
              </a:rPr>
              <a:t>Suggested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3776472"/>
            <a:ext cx="3054096" cy="8046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191E23"/>
                </a:solidFill>
                <a:latin typeface="Aptos"/>
              </a:rPr>
              <a:t>User Service + Product Service is suggested; another reasonable decomposition is acceptable if justified.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Final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13 •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0817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Lab 5 Part 1
Dockerized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28016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1" y="140817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Verify working
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1" y="181051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0817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Identify Service
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1051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19" y="128016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1" y="140817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Create Independent
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1" y="181051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8892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91693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Dockerfile for
Each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31927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79" y="278892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1" y="291693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Build Service
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1" y="331927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78892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91693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Shared Docker
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31927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2788920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1" y="2916936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Environment Variables /
Service URLs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3319272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297679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425695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Docker
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828031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79" y="4297679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1" y="4425695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Service-to-Service
Communication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1" y="4828031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297679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425695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42337"/>
                </a:solidFill>
                <a:latin typeface="Aptos"/>
              </a:rPr>
              <a:t>Postman
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4828031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11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19" y="4297679"/>
            <a:ext cx="2423160" cy="11430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1" y="4425695"/>
            <a:ext cx="20939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D6496"/>
                </a:solidFill>
                <a:latin typeface="Aptos"/>
              </a:rPr>
              <a:t>Architecture + README
+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1" y="4828031"/>
            <a:ext cx="2093976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ptos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142337"/>
                </a:solidFill>
                <a:latin typeface="Aptos"/>
              </a:rPr>
              <a:t>Final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47382"/>
                </a:solidFill>
                <a:latin typeface="Aptos"/>
              </a:rPr>
              <a:t>14 •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42416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At least two independently runnable services created.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Each service exposes and handles its own REST endpoints.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Each service has a Dockerfile and image.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Services communicate through a Docker network.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Service URLs/ports are configured using environment variables.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Docker Compose starts the complete application.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At least one real service-to-service call works.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Postman evidence covers both services and the inter-service call.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Architecture diagram matches the implementation.</a:t>
            </a:r>
          </a:p>
          <a:p>
            <a:pPr>
              <a:spcAft>
                <a:spcPts val="400"/>
              </a:spcAft>
              <a:defRPr sz="1700">
                <a:solidFill>
                  <a:srgbClr val="191E23"/>
                </a:solidFill>
                <a:latin typeface="Aptos"/>
              </a:defRPr>
            </a:pPr>
            <a:r>
              <a:rPr>
                <a:solidFill/>
              </a:rPr>
              <a:t>• README documents the complete setup and testing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142337"/>
                </a:solidFill>
                <a:latin typeface="Aptos"/>
              </a:rPr>
              <a:t>Target outcome: a working, testable, containerized microservices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LAB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73152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>
                <a:solidFill>
                  <a:srgbClr val="2D6496"/>
                </a:solidFill>
                <a:latin typeface="Aptos"/>
              </a:rPr>
              <a:t>Docker &amp;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8686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000" b="0">
                <a:solidFill>
                  <a:srgbClr val="647382"/>
                </a:solidFill>
                <a:latin typeface="Aptos"/>
              </a:rPr>
              <a:t>Containerize • Decompose • Connect • Compose •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4D7497"/>
                </a:solidFill>
                <a:latin typeface="Aptos"/>
              </a:rPr>
              <a:t>Web Services &amp; SOA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96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4D7497"/>
                </a:solidFill>
                <a:latin typeface="Aptos"/>
              </a:rPr>
              <a:t>Web Services &amp; SOA Laboratory • Lab 6 • Microservices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Database per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3 • DATA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4754880" cy="822960"/>
          </a:xfrm>
          <a:prstGeom prst="roundRect">
            <a:avLst/>
          </a:prstGeom>
          <a:solidFill>
            <a:srgbClr val="EBF3EB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Microservices rule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Each service owns its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2560320" cy="91440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242316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private ownership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2880360"/>
            <a:ext cx="41148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720840" y="2423160"/>
            <a:ext cx="2560320" cy="91440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PRODUCT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242316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344A"/>
                </a:solidFill>
              </a:defRPr>
            </a:pPr>
            <a:r>
              <a:rPr>
                <a:solidFill/>
              </a:rPr>
              <a:t>PRODUCT 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private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81160" y="2880360"/>
            <a:ext cx="27432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0480" y="4160520"/>
            <a:ext cx="2560320" cy="91440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:3003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16052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DB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private ownership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4617720"/>
            <a:ext cx="41148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48640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2344A"/>
                </a:solidFill>
              </a:defRPr>
            </a:pPr>
            <a:r>
              <a:rPr>
                <a:solidFill/>
              </a:rPr>
              <a:t>No direct cross-service database queries. If Order needs User data: Order → REST → User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API Gateway: Concrete Routing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3 • API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31720"/>
            <a:ext cx="22860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2344A"/>
                </a:solidFill>
              </a:defRPr>
            </a:pPr>
            <a:r>
              <a:rPr>
                <a:solidFill/>
              </a:rPr>
              <a:t>CLIENT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React / Postman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103120"/>
            <a:ext cx="2743200" cy="1508760"/>
          </a:xfrm>
          <a:prstGeom prst="roundRect">
            <a:avLst/>
          </a:prstGeom>
          <a:solidFill>
            <a:srgbClr val="FAF4E8"/>
          </a:solidFill>
          <a:ln w="1905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2344A"/>
                </a:solidFill>
              </a:defRPr>
            </a:pPr>
            <a:r>
              <a:rPr>
                <a:solidFill/>
              </a:rPr>
              <a:t>API GATEWAY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one public entry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051560"/>
            <a:ext cx="2103120" cy="8229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/users/*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514600"/>
            <a:ext cx="2103120" cy="8229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344A"/>
                </a:solidFill>
              </a:defRPr>
            </a:pPr>
            <a:r>
              <a:rPr>
                <a:solidFill/>
              </a:rPr>
              <a:t>PRODUCT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/products/*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977639"/>
            <a:ext cx="2103120" cy="8229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/orders/*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834640"/>
            <a:ext cx="169164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48940" y="267004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HTTPS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360920" y="1463040"/>
            <a:ext cx="1783080" cy="128016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29500" y="19385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/users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0920" y="2880360"/>
            <a:ext cx="1783080" cy="4572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29500" y="27386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/products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60920" y="3017520"/>
            <a:ext cx="1783080" cy="137160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29500" y="35387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/orders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30352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For Lab 6, understand the routing concept; detailed gateway implementation can be covered later.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Inter-Service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5 •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2560320" cy="105156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calls User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57400"/>
            <a:ext cx="2743200" cy="1051560"/>
          </a:xfrm>
          <a:prstGeom prst="roundRect">
            <a:avLst/>
          </a:prstGeom>
          <a:solidFill>
            <a:srgbClr val="FAEBEB"/>
          </a:solidFill>
          <a:ln w="19050">
            <a:solidFill>
              <a:srgbClr val="A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USER SERVICE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UNAVAILABLE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2057400"/>
            <a:ext cx="25603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CLIENT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receives error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2578608"/>
            <a:ext cx="132588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86100" y="24140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GET /users/101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2578608"/>
            <a:ext cx="1417320" cy="0"/>
          </a:xfrm>
          <a:prstGeom prst="line">
            <a:avLst/>
          </a:prstGeom>
          <a:ln w="31750">
            <a:solidFill>
              <a:srgbClr val="4D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00900" y="241401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344A"/>
                </a:solidFill>
              </a:defRPr>
            </a:pPr>
            <a:r>
              <a:rPr>
                <a:solidFill/>
              </a:rPr>
              <a:t>503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069080"/>
            <a:ext cx="2240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Timeout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stop waiting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069080"/>
            <a:ext cx="2240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Retry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limited attempts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69080"/>
            <a:ext cx="2240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Fallback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safe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069080"/>
            <a:ext cx="2240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7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344A"/>
                </a:solidFill>
              </a:defRPr>
            </a:pPr>
            <a:r>
              <a:rPr>
                <a:solidFill/>
              </a:rPr>
              <a:t>Circuit Breaker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Lab 6 requirement: return a clear controlled error such as 503 when a dependency is unavailable.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Docker Compose for Three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8 •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6537960" cy="4800600"/>
          </a:xfrm>
          <a:prstGeom prst="roundRect">
            <a:avLst/>
          </a:prstGeom>
          <a:solidFill>
            <a:srgbClr val="F5F7F9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>
                <a:solidFill>
                  <a:srgbClr val="232323"/>
                </a:solidFill>
                <a:latin typeface="Consolas"/>
              </a:defRPr>
            </a:pPr>
            <a:r>
              <a:rPr>
                <a:solidFill/>
              </a:rPr>
              <a:t>services:</a:t>
            </a:r>
            <a:br/>
            <a:r>
              <a:rPr>
                <a:solidFill/>
              </a:rPr>
              <a:t>  user-service:</a:t>
            </a:r>
            <a:br/>
            <a:r>
              <a:rPr>
                <a:solidFill/>
              </a:rPr>
              <a:t>    build: ./user-service</a:t>
            </a:r>
            <a:br/>
            <a:r>
              <a:rPr>
                <a:solidFill/>
              </a:rPr>
              <a:t>    ports: ["3001:3001"]</a:t>
            </a:r>
            <a:br/>
            <a:br/>
            <a:r>
              <a:rPr>
                <a:solidFill/>
              </a:rPr>
              <a:t>  product-service:</a:t>
            </a:r>
            <a:br/>
            <a:r>
              <a:rPr>
                <a:solidFill/>
              </a:rPr>
              <a:t>    build: ./product-service</a:t>
            </a:r>
            <a:br/>
            <a:r>
              <a:rPr>
                <a:solidFill/>
              </a:rPr>
              <a:t>    ports: ["3002:3002"]</a:t>
            </a:r>
            <a:br/>
            <a:br/>
            <a:r>
              <a:rPr>
                <a:solidFill/>
              </a:rPr>
              <a:t>  order-service:</a:t>
            </a:r>
            <a:br/>
            <a:r>
              <a:rPr>
                <a:solidFill/>
              </a:rPr>
              <a:t>    build: ./order-service</a:t>
            </a:r>
            <a:br/>
            <a:r>
              <a:rPr>
                <a:solidFill/>
              </a:rPr>
              <a:t>    ports: ["3003:3003"]</a:t>
            </a:r>
            <a:br/>
            <a:r>
              <a:rPr>
                <a:solidFill/>
              </a:rPr>
              <a:t>    environment:</a:t>
            </a:r>
            <a:br/>
            <a:r>
              <a:rPr>
                <a:solidFill/>
              </a:rPr>
              <a:t>      USER_SERVICE_URL: http://user-service:3001</a:t>
            </a:r>
            <a:br/>
            <a:r>
              <a:rPr>
                <a:solidFill/>
              </a:rPr>
              <a:t>      PRODUCT_SERVICE_URL: http://product-service:3002</a:t>
            </a:r>
            <a:br/>
            <a:br/>
            <a:r>
              <a:rPr>
                <a:solidFill/>
              </a:rPr>
              <a:t>networks:</a:t>
            </a:r>
            <a:br/>
            <a:r>
              <a:rPr>
                <a:solidFill/>
              </a:rPr>
              <a:t>  campus-network: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234440"/>
            <a:ext cx="3337560" cy="86868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3 services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independent build contexts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2423160"/>
            <a:ext cx="3337560" cy="86868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3 ports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3001 • 3002 • 3003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3611880"/>
            <a:ext cx="3337560" cy="86868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1 shared network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service-name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4800600"/>
            <a:ext cx="3337560" cy="685800"/>
          </a:xfrm>
          <a:prstGeom prst="roundRect">
            <a:avLst/>
          </a:prstGeom>
          <a:solidFill>
            <a:srgbClr val="EBF3EB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344A"/>
                </a:solidFill>
              </a:defRPr>
            </a:pPr>
            <a:r>
              <a:rPr>
                <a:solidFill/>
              </a:rPr>
              <a:t>1 command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docker compose up 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Microservices Testing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9 • POSTMAN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GET /users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Direct User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1143000"/>
            <a:ext cx="1234440" cy="502920"/>
          </a:xfrm>
          <a:prstGeom prst="roundRect">
            <a:avLst/>
          </a:prstGeom>
          <a:solidFill>
            <a:srgbClr val="EBF3EB"/>
          </a:solidFill>
          <a:ln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01368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GET /products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Direct Product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801368"/>
            <a:ext cx="1234440" cy="502920"/>
          </a:xfrm>
          <a:prstGeom prst="roundRect">
            <a:avLst/>
          </a:prstGeom>
          <a:solidFill>
            <a:srgbClr val="EBF3EB"/>
          </a:solidFill>
          <a:ln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9736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POST /orders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Create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459736"/>
            <a:ext cx="1234440" cy="502920"/>
          </a:xfrm>
          <a:prstGeom prst="roundRect">
            <a:avLst/>
          </a:prstGeom>
          <a:solidFill>
            <a:srgbClr val="EBF3EB"/>
          </a:solidFill>
          <a:ln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201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18104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→ User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Cross-service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118104"/>
            <a:ext cx="1234440" cy="502920"/>
          </a:xfrm>
          <a:prstGeom prst="roundRect">
            <a:avLst/>
          </a:prstGeom>
          <a:solidFill>
            <a:srgbClr val="EBF3EB"/>
          </a:solidFill>
          <a:ln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76472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Order → Product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Cross-service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3776472"/>
            <a:ext cx="1234440" cy="502920"/>
          </a:xfrm>
          <a:prstGeom prst="roundRect">
            <a:avLst/>
          </a:prstGeom>
          <a:solidFill>
            <a:srgbClr val="EBF3EB"/>
          </a:solidFill>
          <a:ln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Invalid User ID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Validation/error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434840"/>
            <a:ext cx="1234440" cy="502920"/>
          </a:xfrm>
          <a:prstGeom prst="roundRect">
            <a:avLst/>
          </a:prstGeom>
          <a:solidFill>
            <a:srgbClr val="FAEBEB"/>
          </a:solidFill>
          <a:ln>
            <a:solidFill>
              <a:srgbClr val="A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404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93208"/>
            <a:ext cx="28346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Stop User → Order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Dependency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5093208"/>
            <a:ext cx="1234440" cy="502920"/>
          </a:xfrm>
          <a:prstGeom prst="roundRect">
            <a:avLst/>
          </a:prstGeom>
          <a:solidFill>
            <a:srgbClr val="FAEBEB"/>
          </a:solidFill>
          <a:ln>
            <a:solidFill>
              <a:srgbClr val="A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344A"/>
                </a:solidFill>
              </a:defRPr>
            </a:pPr>
            <a:r>
              <a:rPr>
                <a:solidFill/>
              </a:rPr>
              <a:t>503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828800"/>
            <a:ext cx="4754880" cy="1920240"/>
          </a:xfrm>
          <a:prstGeom prst="roundRect">
            <a:avLst/>
          </a:prstGeom>
          <a:solidFill>
            <a:srgbClr val="E8EFF5"/>
          </a:solidFill>
          <a:ln w="19050"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2344A"/>
                </a:solidFill>
              </a:defRPr>
            </a:pPr>
            <a:r>
              <a:rPr>
                <a:solidFill/>
              </a:rPr>
              <a:t>Required evidence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Show method + URL + status code + response body</a:t>
            </a:r>
            <a:br/>
            <a:r>
              <a:rPr>
                <a:solidFill/>
              </a:rPr>
              <a:t>Capture both successful and failure/recovery behaviour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4160520"/>
            <a:ext cx="4754880" cy="1143000"/>
          </a:xfrm>
          <a:prstGeom prst="roundRect">
            <a:avLst/>
          </a:prstGeom>
          <a:solidFill>
            <a:srgbClr val="EBF3EB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344A"/>
                </a:solidFill>
              </a:defRPr>
            </a:pPr>
            <a:r>
              <a:rPr>
                <a:solidFill/>
              </a:rPr>
              <a:t>Recovery</a:t>
            </a:r>
          </a:p>
          <a:p>
            <a:pPr algn="ctr">
              <a:defRPr sz="1200">
                <a:solidFill>
                  <a:srgbClr val="232323"/>
                </a:solidFill>
              </a:defRPr>
            </a:pPr>
            <a:r>
              <a:rPr>
                <a:solidFill/>
              </a:rPr>
              <a:t>Restart User Service → repeat Order test → verify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D7497"/>
                </a:solidFill>
              </a:defRPr>
            </a:pPr>
            <a:r>
              <a:rPr>
                <a:solidFill/>
              </a:rPr>
              <a:t>Hands-on Workflow: Complete Running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29260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D7497"/>
                </a:solidFill>
              </a:defRPr>
            </a:pPr>
            <a:r>
              <a:rPr>
                <a:solidFill/>
              </a:rPr>
              <a:t>10 • PRACTICAL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960120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941832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Start 3 services with Docker Compose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65860" y="1463040"/>
            <a:ext cx="0" cy="210312"/>
          </a:xfrm>
          <a:prstGeom prst="line">
            <a:avLst/>
          </a:prstGeom>
          <a:ln w="25400">
            <a:solidFill>
              <a:srgbClr val="CD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1673352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55064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Verify all containers are running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65860" y="2176272"/>
            <a:ext cx="0" cy="210312"/>
          </a:xfrm>
          <a:prstGeom prst="line">
            <a:avLst/>
          </a:prstGeom>
          <a:ln w="25400">
            <a:solidFill>
              <a:srgbClr val="CD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" y="2386584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68296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Test User, Product and Order individually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65860" y="2889504"/>
            <a:ext cx="0" cy="210312"/>
          </a:xfrm>
          <a:prstGeom prst="line">
            <a:avLst/>
          </a:prstGeom>
          <a:ln w="25400">
            <a:solidFill>
              <a:srgbClr val="CD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14400" y="3099815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81527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Test Order → User / Product communication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5860" y="3602735"/>
            <a:ext cx="0" cy="210313"/>
          </a:xfrm>
          <a:prstGeom prst="line">
            <a:avLst/>
          </a:prstGeom>
          <a:ln w="25400">
            <a:solidFill>
              <a:srgbClr val="CD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" y="3813048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94760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Create an order using existing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65860" y="4315968"/>
            <a:ext cx="0" cy="210312"/>
          </a:xfrm>
          <a:prstGeom prst="line">
            <a:avLst/>
          </a:prstGeom>
          <a:ln w="25400">
            <a:solidFill>
              <a:srgbClr val="CD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07992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Stop User Service and observe 503/error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65860" y="5029200"/>
            <a:ext cx="0" cy="210312"/>
          </a:xfrm>
          <a:prstGeom prst="line">
            <a:avLst/>
          </a:prstGeom>
          <a:ln w="25400">
            <a:solidFill>
              <a:srgbClr val="CD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4400" y="5239512"/>
            <a:ext cx="502920" cy="502920"/>
          </a:xfrm>
          <a:prstGeom prst="ellipse">
            <a:avLst/>
          </a:prstGeom>
          <a:solidFill>
            <a:srgbClr val="4D7497"/>
          </a:solidFill>
          <a:ln>
            <a:solidFill>
              <a:srgbClr val="4D7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>
                <a:solidFill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221224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/>
              </a:rPr>
              <a:t>Restart User Service and verify recovery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5623560"/>
            <a:ext cx="2971800" cy="502920"/>
          </a:xfrm>
          <a:prstGeom prst="roundRect">
            <a:avLst/>
          </a:prstGeom>
          <a:solidFill>
            <a:srgbClr val="EBF3EB"/>
          </a:solidFill>
          <a:ln w="19050">
            <a:solidFill>
              <a:srgbClr val="5C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344A"/>
                </a:solidFill>
              </a:defRPr>
            </a:pPr>
            <a:r>
              <a:rPr>
                <a:solidFill/>
              </a:rPr>
              <a:t>Target: working, testable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7497"/>
                </a:solidFill>
              </a:defRPr>
            </a:pPr>
            <a:r>
              <a:rPr>
                <a:solidFill>
                  <a:srgbClr val="4D7497"/>
                </a:solidFill>
              </a:rPr>
              <a:t>Web Services &amp; SOA Laboratory • Lab 6 • Microservices    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